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365" r:id="rId5"/>
    <p:sldId id="375" r:id="rId6"/>
    <p:sldId id="382" r:id="rId7"/>
    <p:sldId id="383" r:id="rId8"/>
    <p:sldId id="384" r:id="rId9"/>
    <p:sldId id="380" r:id="rId10"/>
    <p:sldId id="385" r:id="rId11"/>
    <p:sldId id="386" r:id="rId12"/>
    <p:sldId id="388" r:id="rId13"/>
    <p:sldId id="389" r:id="rId14"/>
    <p:sldId id="390" r:id="rId15"/>
    <p:sldId id="391" r:id="rId16"/>
    <p:sldId id="392" r:id="rId17"/>
    <p:sldId id="34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 showGuides="1">
      <p:cViewPr varScale="1">
        <p:scale>
          <a:sx n="68" d="100"/>
          <a:sy n="68" d="100"/>
        </p:scale>
        <p:origin x="38" y="35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012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6AE22-4EB8-9E73-3558-E952EB6AF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931006-2CA0-90E4-0C59-2CE86C0D1C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863C06-A91B-6A93-118C-8992DF421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31B2D-D279-BD53-24C8-FACD665580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179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BD52C-EA49-B2D4-829C-32F4A81AB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89E521-632B-71BC-C56A-CB1C43C164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76B302-6B7C-F282-76FA-DD9EA42442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407AC-8370-F37C-2E39-7E1045A9A2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232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DA66C-29DD-D626-65E6-2A48F1AF6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4FD6CB-0913-A90A-0184-1CE95FD916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999FBB-1583-8620-4FE8-32A83C3C60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229B6C-84C2-20D7-B14D-83D03B8443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8256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213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5DC19-EF2B-FEA7-E2D2-F84E8D8B0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DD0465-53E1-9939-5041-F873CE72C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9AE63A-A4BD-835D-F32C-060BD8FA3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CA9AFF-B3C9-3C08-0AF5-E1FB398796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4587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00160-5746-C69E-ADE6-0FE69CF0B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44926E-2C3B-7FC5-1624-8608EB7B0E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AC8EBB-DBD8-AC21-F5C7-EAC0650A56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F22BB-FD19-9617-0E20-E1314EA313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4474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E65C1-7904-1D10-F03C-173824A72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C49A49-32CA-BF80-9330-31373E4A36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C4A0F9-BF45-DCB6-8B51-7BBEADC9EE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26F70-1979-76FA-B522-4FB396AD8B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7223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86B24-ADC0-15FD-C984-B67F214E2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E78D6B-8C7B-2CC2-7566-40E7D6E6E0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81B9CB-7D07-67AC-26DE-5E4D892EFE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73ED14-4FAD-C569-99C3-D57C37A975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6732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39B06-04F8-1946-39B0-5D466324A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D0F897-51BF-5FB7-2C4A-A7FACDD125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52E59D-E9C0-B0D1-E359-761F14E92F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76877-EC88-6A27-13C9-E67790BE74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640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3CCEF-0D0D-D280-5A29-25CBC0412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4E3CA3-B117-DC0B-97A4-76539D8C4C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E3FEFF-FAF3-CE5C-2780-9A9E3CACA4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91A73-FED8-B972-8C3B-5670F2D29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9736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BECC6-AE53-BCAE-DF39-CFC753987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B046FC-A483-DC45-DA84-710F6DDB15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1EA32A-5DF0-8541-BE10-A313AABA8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10215-92FF-D4E4-E222-20D2707D84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5668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692FC88-DAD7-F5AD-7831-DE5432210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FD6A3FE-1BF6-4C1A-0553-EBD497A69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36" y="116875"/>
            <a:ext cx="12149507" cy="3788551"/>
          </a:xfrm>
        </p:spPr>
        <p:txBody>
          <a:bodyPr anchor="b"/>
          <a:lstStyle/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Engagement, Satisfaction, and Burnout Diagnostic Analysis AT 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Palo Alto Networks</a:t>
            </a:r>
            <a:br>
              <a:rPr lang="en-US" dirty="0"/>
            </a:br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15774B0-D971-67D7-27EB-FDB82B3A5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5374904"/>
            <a:ext cx="6327105" cy="1366221"/>
          </a:xfrm>
        </p:spPr>
        <p:txBody>
          <a:bodyPr/>
          <a:lstStyle/>
          <a:p>
            <a:pPr algn="l"/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Madhushree S G</a:t>
            </a:r>
          </a:p>
          <a:p>
            <a:pPr algn="l"/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ID: UMID07022680379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733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 sz="4400" dirty="0">
                <a:latin typeface="Algerian" panose="04020705040A02060702" pitchFamily="82" charset="0"/>
              </a:rPr>
              <a:t>PROJECT 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60DFF-2E7E-7A22-819A-C011020DFF0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This project analyzes employee engagement and burnout risk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Uses employee satisfaction and workload data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Calculates Engagement Index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Identifies burnout risk employees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Applies machine learning models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Provides </a:t>
            </a:r>
            <a:r>
              <a:rPr lang="en-US" sz="2000" dirty="0" err="1"/>
              <a:t>Streamlit</a:t>
            </a:r>
            <a:r>
              <a:rPr lang="en-US" sz="2000" dirty="0"/>
              <a:t> dashboard for HR insights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29EBF-CF85-D991-295F-584AAC21E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F3B5D-658D-5429-3173-62B879AA2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 sz="4400" dirty="0">
                <a:latin typeface="Algerian" panose="04020705040A02060702" pitchFamily="82" charset="0"/>
              </a:rPr>
              <a:t>OBJECTIVES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A7CEFC-24AC-C2CD-FC9D-808DCC928DA8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Measure employee engagement level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Identify employees at risk of burnout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Analyze overtime and work-life balance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Study engagement across job roles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Provide data-driven HR insights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Improve employee productivity and retention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9E0C52-2837-58C0-8D33-AD3108CB8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373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744C5-F01C-2310-8CE4-78C901D8C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2ACFB-A1FF-1882-ECF5-EF19A08F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 sz="4400" dirty="0">
                <a:latin typeface="Algerian" panose="04020705040A02060702" pitchFamily="82" charset="0"/>
              </a:rPr>
              <a:t>PROBLEM STATEMENT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D1DCF8-7884-2DF7-7454-ADACA919C510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 Employees face high workload and stress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Burnout leads to disengagement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No early detection system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HR decisions are reactive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Need predictive analytics solution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BB4424-76C9-8DBF-5B78-AFFA4F869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315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16C4D-B834-0ECE-480D-F18BF8AB8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775D6-3438-43AA-AC57-192215684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 sz="4400" dirty="0">
                <a:latin typeface="Algerian" panose="04020705040A02060702" pitchFamily="82" charset="0"/>
              </a:rPr>
              <a:t>DATASET 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7F77D-2729-98BC-D65C-C74A1C945B2A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813669" y="2201356"/>
            <a:ext cx="7655842" cy="438785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 Job Satisfaction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Environment Satisfaction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Work Life Balance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Overtime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Monthly Income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Job Role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Years at Company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Attrition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7FF93F-8177-77F3-47D4-F94E775B5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813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E810E-8E37-1D8A-245B-020E4E4C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1683"/>
            <a:ext cx="10515601" cy="1327464"/>
          </a:xfrm>
        </p:spPr>
        <p:txBody>
          <a:bodyPr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CECA3-144C-CD4B-9246-81B4F2E6546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903110" y="2275390"/>
            <a:ext cx="11069869" cy="3427265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Data Collection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n-US" dirty="0"/>
              <a:t>— Employee dataset gathered containing satisfaction, workload, and demographic features.</a:t>
            </a:r>
          </a:p>
          <a:p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Data Preprocessing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US" dirty="0"/>
              <a:t>— Cleaned data, handled missing values, and encoded categorical variables.</a:t>
            </a:r>
          </a:p>
          <a:p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Exploratory Data Analysis</a:t>
            </a: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dirty="0"/>
              <a:t>— Analyzed patterns between engagement, overtime, and work-life balance.</a:t>
            </a:r>
          </a:p>
          <a:p>
            <a:r>
              <a:rPr lang="en-US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Engagement Index Calculation</a:t>
            </a: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</a:t>
            </a:r>
            <a:r>
              <a:rPr lang="en-US" dirty="0"/>
              <a:t>— Combined satisfaction metrics to measure overall employee engagement.</a:t>
            </a:r>
          </a:p>
          <a:p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Burnout Risk Classification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US" dirty="0"/>
              <a:t>— Identified high-risk employees using overtime and work-life balance.</a:t>
            </a:r>
          </a:p>
          <a:p>
            <a:r>
              <a:rPr lang="en-US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Machine Learning Model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n-US" dirty="0"/>
              <a:t>— Trained models to predict engagement and burnout risk.</a:t>
            </a:r>
          </a:p>
          <a:p>
            <a:r>
              <a:rPr lang="en-US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Dashboard Development</a:t>
            </a: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</a:t>
            </a:r>
            <a:r>
              <a:rPr lang="en-US" dirty="0"/>
              <a:t>— Built </a:t>
            </a:r>
            <a:r>
              <a:rPr lang="en-US" dirty="0" err="1"/>
              <a:t>Streamlit</a:t>
            </a:r>
            <a:r>
              <a:rPr lang="en-US" dirty="0"/>
              <a:t> dashboard to visualize insights and predictions.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E69EA-A9E8-C521-7C62-DA1F2487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95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57A12-6C12-4CFE-537D-DBAE13327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CA85E-7276-4A33-3489-2F0D02F37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 sz="4400" dirty="0">
                <a:latin typeface="Algerian" panose="04020705040A02060702" pitchFamily="82" charset="0"/>
              </a:rPr>
              <a:t>KEY FEATURES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A525A9-1D62-BE8D-B93D-F29DDB83445E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813669" y="2477934"/>
            <a:ext cx="7655842" cy="438785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 Engagement Index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Burnout Risk Score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EDA Visualizations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Machine Learning Prediction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Interactive Dashboard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FA4026-CD6C-78AF-7B45-08A44D649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447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8FAB6-B41E-BBB0-0ACC-EF520AEAF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36AB8-0A7A-D8E9-8836-641256299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 sz="4400" dirty="0">
                <a:latin typeface="Algerian" panose="04020705040A02060702" pitchFamily="82" charset="0"/>
              </a:rPr>
              <a:t>RESULTS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D4FCA1-0323-7661-7C33-31C64C3D79B0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666914" y="2843059"/>
            <a:ext cx="7655842" cy="3200377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 Overtime reduces engagement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Poor work-life balance increases burnout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Job satisfaction improves engagement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High burnout leads to attrition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6F4B77-2ADC-DE72-A9DF-1DA0FE1A7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376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E8B72-AE0B-8849-5B8F-890F133B1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24FF65-301C-0B3F-32F9-5DC14AC93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E27ABF-2778-EE02-61F0-9286BE73E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1030" y="379646"/>
            <a:ext cx="8395452" cy="602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368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96454-A80E-00D1-D793-972703383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8DDA07-39BF-7DD5-F6DA-366D1DFCA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2E89BF-027B-CFFB-7E11-AC908E9CC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258" y="587022"/>
            <a:ext cx="8165385" cy="563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B407E-EABC-D104-C988-2DCF5B329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EB8517-493D-B291-1306-A59F9EA4E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3462D8-1052-2B5D-4F13-604363F49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168" y="519289"/>
            <a:ext cx="9391247" cy="5889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258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404EF-4939-50A9-8CCD-1C1E4C9C6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FAC9F0-9E1C-8944-3B71-79C465990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F742E8-5537-8363-F079-20BF921E3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746" y="413391"/>
            <a:ext cx="8535076" cy="27800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128E59-DC8E-AFF2-39BF-CB02E105BA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1030" y="3531531"/>
            <a:ext cx="8508792" cy="2913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459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731C4-1472-312C-74AD-115B9E9CB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8AB1CA-0B0B-D038-876E-4C0BEAC94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16755D-28EE-5E41-B933-CF43F7750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7693" y="751093"/>
            <a:ext cx="7968618" cy="5355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486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anchor="b"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Scientific findings presentation</Template>
  <TotalTime>37</TotalTime>
  <Words>289</Words>
  <Application>Microsoft Office PowerPoint</Application>
  <PresentationFormat>Widescreen</PresentationFormat>
  <Paragraphs>78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Algerian</vt:lpstr>
      <vt:lpstr>Arial</vt:lpstr>
      <vt:lpstr>Arial Nova</vt:lpstr>
      <vt:lpstr>Biome</vt:lpstr>
      <vt:lpstr>Calibri</vt:lpstr>
      <vt:lpstr>Times New Roman</vt:lpstr>
      <vt:lpstr>Wingdings</vt:lpstr>
      <vt:lpstr>Custom</vt:lpstr>
      <vt:lpstr>Employee Engagement, Satisfaction, and Burnout Diagnostic Analysis AT Palo Alto Networks </vt:lpstr>
      <vt:lpstr>PROJECT OVERVIEW</vt:lpstr>
      <vt:lpstr>OBJECTIVES</vt:lpstr>
      <vt:lpstr>PROBLEM STATEMENT</vt:lpstr>
      <vt:lpstr>DATASET OVERVIEW</vt:lpstr>
      <vt:lpstr>METHODOLOGY</vt:lpstr>
      <vt:lpstr>KEY FEATURES</vt:lpstr>
      <vt:lpstr>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 shree S G</dc:creator>
  <cp:lastModifiedBy>Madhu shree S G</cp:lastModifiedBy>
  <cp:revision>1</cp:revision>
  <dcterms:created xsi:type="dcterms:W3CDTF">2026-04-18T05:34:38Z</dcterms:created>
  <dcterms:modified xsi:type="dcterms:W3CDTF">2026-04-18T06:11:58Z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